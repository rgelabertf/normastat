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>
        <p:scale>
          <a:sx n="95" d="100"/>
          <a:sy n="95" d="100"/>
        </p:scale>
        <p:origin x="66" y="-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84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¿Mis datos son normales?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de las 4 pruebas de normalidad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0" y="3017520"/>
            <a:ext cx="3959352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Shapiro-Wilk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38912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Kolmogorov-Smirnov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94944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  Jarque-Bera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50976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 Chi-cuadrado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Estadística Aplicada  ·  Herramienta: NormaStat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36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distribución normal?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055369" y="3014682"/>
            <a:ext cx="5783441" cy="238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" name="Shape 2"/>
          <p:cNvSpPr/>
          <p:nvPr/>
        </p:nvSpPr>
        <p:spPr>
          <a:xfrm>
            <a:off x="3055369" y="3026566"/>
            <a:ext cx="96391" cy="3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" name="Shape 3"/>
          <p:cNvSpPr/>
          <p:nvPr/>
        </p:nvSpPr>
        <p:spPr>
          <a:xfrm>
            <a:off x="3151760" y="3026528"/>
            <a:ext cx="96391" cy="7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6" name="Shape 4"/>
          <p:cNvSpPr/>
          <p:nvPr/>
        </p:nvSpPr>
        <p:spPr>
          <a:xfrm>
            <a:off x="3248150" y="3026452"/>
            <a:ext cx="96391" cy="1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7" name="Shape 5"/>
          <p:cNvSpPr/>
          <p:nvPr/>
        </p:nvSpPr>
        <p:spPr>
          <a:xfrm>
            <a:off x="3344541" y="3026306"/>
            <a:ext cx="96391" cy="29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8" name="Shape 6"/>
          <p:cNvSpPr/>
          <p:nvPr/>
        </p:nvSpPr>
        <p:spPr>
          <a:xfrm>
            <a:off x="3440932" y="3026033"/>
            <a:ext cx="96391" cy="57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9" name="Shape 7"/>
          <p:cNvSpPr/>
          <p:nvPr/>
        </p:nvSpPr>
        <p:spPr>
          <a:xfrm>
            <a:off x="3537322" y="3025535"/>
            <a:ext cx="96391" cy="10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0" name="Shape 8"/>
          <p:cNvSpPr/>
          <p:nvPr/>
        </p:nvSpPr>
        <p:spPr>
          <a:xfrm>
            <a:off x="3633713" y="3024647"/>
            <a:ext cx="96391" cy="195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1" name="Shape 9"/>
          <p:cNvSpPr/>
          <p:nvPr/>
        </p:nvSpPr>
        <p:spPr>
          <a:xfrm>
            <a:off x="3730104" y="3023111"/>
            <a:ext cx="96391" cy="349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2" name="Shape 10"/>
          <p:cNvSpPr/>
          <p:nvPr/>
        </p:nvSpPr>
        <p:spPr>
          <a:xfrm>
            <a:off x="3826494" y="3020520"/>
            <a:ext cx="96391" cy="608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3" name="Shape 11"/>
          <p:cNvSpPr/>
          <p:nvPr/>
        </p:nvSpPr>
        <p:spPr>
          <a:xfrm>
            <a:off x="3922885" y="3016263"/>
            <a:ext cx="96391" cy="1033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4" name="Shape 12"/>
          <p:cNvSpPr/>
          <p:nvPr/>
        </p:nvSpPr>
        <p:spPr>
          <a:xfrm>
            <a:off x="4019276" y="3009456"/>
            <a:ext cx="96391" cy="171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5" name="Shape 13"/>
          <p:cNvSpPr/>
          <p:nvPr/>
        </p:nvSpPr>
        <p:spPr>
          <a:xfrm>
            <a:off x="4115667" y="2998862"/>
            <a:ext cx="96391" cy="2774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6" name="Shape 14"/>
          <p:cNvSpPr/>
          <p:nvPr/>
        </p:nvSpPr>
        <p:spPr>
          <a:xfrm>
            <a:off x="4212057" y="2982814"/>
            <a:ext cx="96391" cy="437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7" name="Shape 15"/>
          <p:cNvSpPr/>
          <p:nvPr/>
        </p:nvSpPr>
        <p:spPr>
          <a:xfrm>
            <a:off x="4308448" y="2959168"/>
            <a:ext cx="96391" cy="6743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8" name="Shape 16"/>
          <p:cNvSpPr/>
          <p:nvPr/>
        </p:nvSpPr>
        <p:spPr>
          <a:xfrm>
            <a:off x="4404839" y="2925284"/>
            <a:ext cx="96391" cy="10131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19" name="Shape 17"/>
          <p:cNvSpPr/>
          <p:nvPr/>
        </p:nvSpPr>
        <p:spPr>
          <a:xfrm>
            <a:off x="4501229" y="2878082"/>
            <a:ext cx="96391" cy="14852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0" name="Shape 18"/>
          <p:cNvSpPr/>
          <p:nvPr/>
        </p:nvSpPr>
        <p:spPr>
          <a:xfrm>
            <a:off x="4597620" y="2814197"/>
            <a:ext cx="96391" cy="212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1" name="Shape 19"/>
          <p:cNvSpPr/>
          <p:nvPr/>
        </p:nvSpPr>
        <p:spPr>
          <a:xfrm>
            <a:off x="4694011" y="2730237"/>
            <a:ext cx="96391" cy="29636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2" name="Shape 20"/>
          <p:cNvSpPr/>
          <p:nvPr/>
        </p:nvSpPr>
        <p:spPr>
          <a:xfrm>
            <a:off x="4790401" y="2623166"/>
            <a:ext cx="96391" cy="40343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3" name="Shape 21"/>
          <p:cNvSpPr/>
          <p:nvPr/>
        </p:nvSpPr>
        <p:spPr>
          <a:xfrm>
            <a:off x="4886792" y="2490798"/>
            <a:ext cx="96391" cy="53580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4" name="Shape 22"/>
          <p:cNvSpPr/>
          <p:nvPr/>
        </p:nvSpPr>
        <p:spPr>
          <a:xfrm>
            <a:off x="4983183" y="2332343"/>
            <a:ext cx="96391" cy="69425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5" name="Shape 23"/>
          <p:cNvSpPr/>
          <p:nvPr/>
        </p:nvSpPr>
        <p:spPr>
          <a:xfrm>
            <a:off x="5079573" y="2148951"/>
            <a:ext cx="96391" cy="87765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6" name="Shape 24"/>
          <p:cNvSpPr/>
          <p:nvPr/>
        </p:nvSpPr>
        <p:spPr>
          <a:xfrm>
            <a:off x="5175964" y="1944156"/>
            <a:ext cx="96391" cy="10824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7" name="Shape 25"/>
          <p:cNvSpPr/>
          <p:nvPr/>
        </p:nvSpPr>
        <p:spPr>
          <a:xfrm>
            <a:off x="5272355" y="1724112"/>
            <a:ext cx="96391" cy="130249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8" name="Shape 26"/>
          <p:cNvSpPr/>
          <p:nvPr/>
        </p:nvSpPr>
        <p:spPr>
          <a:xfrm>
            <a:off x="5368745" y="1497533"/>
            <a:ext cx="96391" cy="15290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29" name="Shape 27"/>
          <p:cNvSpPr/>
          <p:nvPr/>
        </p:nvSpPr>
        <p:spPr>
          <a:xfrm>
            <a:off x="5465136" y="1275289"/>
            <a:ext cx="96391" cy="175131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0" name="Shape 28"/>
          <p:cNvSpPr/>
          <p:nvPr/>
        </p:nvSpPr>
        <p:spPr>
          <a:xfrm>
            <a:off x="5561527" y="1069629"/>
            <a:ext cx="96391" cy="195697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1" name="Shape 29"/>
          <p:cNvSpPr/>
          <p:nvPr/>
        </p:nvSpPr>
        <p:spPr>
          <a:xfrm>
            <a:off x="5657917" y="893114"/>
            <a:ext cx="96391" cy="2133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2" name="Shape 30"/>
          <p:cNvSpPr/>
          <p:nvPr/>
        </p:nvSpPr>
        <p:spPr>
          <a:xfrm>
            <a:off x="5754308" y="757366"/>
            <a:ext cx="96391" cy="226923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3" name="Shape 31"/>
          <p:cNvSpPr/>
          <p:nvPr/>
        </p:nvSpPr>
        <p:spPr>
          <a:xfrm>
            <a:off x="5850699" y="671806"/>
            <a:ext cx="96391" cy="235479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4" name="Shape 32"/>
          <p:cNvSpPr/>
          <p:nvPr/>
        </p:nvSpPr>
        <p:spPr>
          <a:xfrm>
            <a:off x="5947090" y="642575"/>
            <a:ext cx="96391" cy="238402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5" name="Shape 33"/>
          <p:cNvSpPr/>
          <p:nvPr/>
        </p:nvSpPr>
        <p:spPr>
          <a:xfrm>
            <a:off x="6043480" y="671806"/>
            <a:ext cx="96391" cy="235479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6" name="Shape 34"/>
          <p:cNvSpPr/>
          <p:nvPr/>
        </p:nvSpPr>
        <p:spPr>
          <a:xfrm>
            <a:off x="6139871" y="757366"/>
            <a:ext cx="96391" cy="226923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7" name="Shape 35"/>
          <p:cNvSpPr/>
          <p:nvPr/>
        </p:nvSpPr>
        <p:spPr>
          <a:xfrm>
            <a:off x="6236262" y="893114"/>
            <a:ext cx="96391" cy="2133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8" name="Shape 36"/>
          <p:cNvSpPr/>
          <p:nvPr/>
        </p:nvSpPr>
        <p:spPr>
          <a:xfrm>
            <a:off x="6332652" y="1069629"/>
            <a:ext cx="96391" cy="195697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39" name="Shape 37"/>
          <p:cNvSpPr/>
          <p:nvPr/>
        </p:nvSpPr>
        <p:spPr>
          <a:xfrm>
            <a:off x="6429043" y="1275289"/>
            <a:ext cx="96391" cy="175131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0" name="Shape 38"/>
          <p:cNvSpPr/>
          <p:nvPr/>
        </p:nvSpPr>
        <p:spPr>
          <a:xfrm>
            <a:off x="6525434" y="1497533"/>
            <a:ext cx="96391" cy="15290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1" name="Shape 39"/>
          <p:cNvSpPr/>
          <p:nvPr/>
        </p:nvSpPr>
        <p:spPr>
          <a:xfrm>
            <a:off x="6621824" y="1724112"/>
            <a:ext cx="96391" cy="130249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2" name="Shape 40"/>
          <p:cNvSpPr/>
          <p:nvPr/>
        </p:nvSpPr>
        <p:spPr>
          <a:xfrm>
            <a:off x="6718215" y="1944156"/>
            <a:ext cx="96391" cy="10824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3" name="Shape 41"/>
          <p:cNvSpPr/>
          <p:nvPr/>
        </p:nvSpPr>
        <p:spPr>
          <a:xfrm>
            <a:off x="6814606" y="2148951"/>
            <a:ext cx="96391" cy="87765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4" name="Shape 42"/>
          <p:cNvSpPr/>
          <p:nvPr/>
        </p:nvSpPr>
        <p:spPr>
          <a:xfrm>
            <a:off x="6910996" y="2332343"/>
            <a:ext cx="96391" cy="69425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5" name="Shape 43"/>
          <p:cNvSpPr/>
          <p:nvPr/>
        </p:nvSpPr>
        <p:spPr>
          <a:xfrm>
            <a:off x="7007387" y="2490798"/>
            <a:ext cx="96391" cy="53580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6" name="Shape 44"/>
          <p:cNvSpPr/>
          <p:nvPr/>
        </p:nvSpPr>
        <p:spPr>
          <a:xfrm>
            <a:off x="7103778" y="2623166"/>
            <a:ext cx="96391" cy="40343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7" name="Shape 45"/>
          <p:cNvSpPr/>
          <p:nvPr/>
        </p:nvSpPr>
        <p:spPr>
          <a:xfrm>
            <a:off x="7200168" y="2730237"/>
            <a:ext cx="96391" cy="29636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8" name="Shape 46"/>
          <p:cNvSpPr/>
          <p:nvPr/>
        </p:nvSpPr>
        <p:spPr>
          <a:xfrm>
            <a:off x="7296559" y="2814197"/>
            <a:ext cx="96391" cy="212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49" name="Shape 47"/>
          <p:cNvSpPr/>
          <p:nvPr/>
        </p:nvSpPr>
        <p:spPr>
          <a:xfrm>
            <a:off x="7392950" y="2878082"/>
            <a:ext cx="96391" cy="14852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0" name="Shape 48"/>
          <p:cNvSpPr/>
          <p:nvPr/>
        </p:nvSpPr>
        <p:spPr>
          <a:xfrm>
            <a:off x="7489340" y="2925284"/>
            <a:ext cx="96391" cy="10131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1" name="Shape 49"/>
          <p:cNvSpPr/>
          <p:nvPr/>
        </p:nvSpPr>
        <p:spPr>
          <a:xfrm>
            <a:off x="7585731" y="2959168"/>
            <a:ext cx="96391" cy="6743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2" name="Shape 50"/>
          <p:cNvSpPr/>
          <p:nvPr/>
        </p:nvSpPr>
        <p:spPr>
          <a:xfrm>
            <a:off x="7682122" y="2982814"/>
            <a:ext cx="96391" cy="437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3" name="Shape 51"/>
          <p:cNvSpPr/>
          <p:nvPr/>
        </p:nvSpPr>
        <p:spPr>
          <a:xfrm>
            <a:off x="7778512" y="2998862"/>
            <a:ext cx="96391" cy="2774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4" name="Shape 52"/>
          <p:cNvSpPr/>
          <p:nvPr/>
        </p:nvSpPr>
        <p:spPr>
          <a:xfrm>
            <a:off x="7874903" y="3009456"/>
            <a:ext cx="96391" cy="171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5" name="Shape 53"/>
          <p:cNvSpPr/>
          <p:nvPr/>
        </p:nvSpPr>
        <p:spPr>
          <a:xfrm>
            <a:off x="7971294" y="3016263"/>
            <a:ext cx="96391" cy="1033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6" name="Shape 54"/>
          <p:cNvSpPr/>
          <p:nvPr/>
        </p:nvSpPr>
        <p:spPr>
          <a:xfrm>
            <a:off x="8067685" y="3020520"/>
            <a:ext cx="96391" cy="608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7" name="Shape 55"/>
          <p:cNvSpPr/>
          <p:nvPr/>
        </p:nvSpPr>
        <p:spPr>
          <a:xfrm>
            <a:off x="8164075" y="3023111"/>
            <a:ext cx="96391" cy="349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8" name="Shape 56"/>
          <p:cNvSpPr/>
          <p:nvPr/>
        </p:nvSpPr>
        <p:spPr>
          <a:xfrm>
            <a:off x="8260466" y="3024647"/>
            <a:ext cx="96391" cy="195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59" name="Shape 57"/>
          <p:cNvSpPr/>
          <p:nvPr/>
        </p:nvSpPr>
        <p:spPr>
          <a:xfrm>
            <a:off x="8356857" y="3025535"/>
            <a:ext cx="96391" cy="10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60" name="Shape 58"/>
          <p:cNvSpPr/>
          <p:nvPr/>
        </p:nvSpPr>
        <p:spPr>
          <a:xfrm>
            <a:off x="8453247" y="3026033"/>
            <a:ext cx="96391" cy="57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61" name="Shape 59"/>
          <p:cNvSpPr/>
          <p:nvPr/>
        </p:nvSpPr>
        <p:spPr>
          <a:xfrm>
            <a:off x="8549638" y="3026306"/>
            <a:ext cx="96391" cy="29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62" name="Shape 60"/>
          <p:cNvSpPr/>
          <p:nvPr/>
        </p:nvSpPr>
        <p:spPr>
          <a:xfrm>
            <a:off x="8646029" y="3026452"/>
            <a:ext cx="96391" cy="1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63" name="Shape 61"/>
          <p:cNvSpPr/>
          <p:nvPr/>
        </p:nvSpPr>
        <p:spPr>
          <a:xfrm>
            <a:off x="8742419" y="3026528"/>
            <a:ext cx="96391" cy="7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 sz="1200"/>
          </a:p>
        </p:txBody>
      </p:sp>
      <p:sp>
        <p:nvSpPr>
          <p:cNvPr id="64" name="Shape 62"/>
          <p:cNvSpPr/>
          <p:nvPr/>
        </p:nvSpPr>
        <p:spPr>
          <a:xfrm>
            <a:off x="5947090" y="523374"/>
            <a:ext cx="0" cy="2503229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s-MX" sz="1200"/>
          </a:p>
        </p:txBody>
      </p:sp>
      <p:sp>
        <p:nvSpPr>
          <p:cNvPr id="65" name="Text 63"/>
          <p:cNvSpPr/>
          <p:nvPr/>
        </p:nvSpPr>
        <p:spPr>
          <a:xfrm>
            <a:off x="5368745" y="284971"/>
            <a:ext cx="1156688" cy="357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(media)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559064" y="3145804"/>
            <a:ext cx="694013" cy="298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-1σ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641102" y="3145804"/>
            <a:ext cx="694013" cy="298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+1σ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48640" y="3840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 sz="1100"/>
          </a:p>
        </p:txBody>
      </p:sp>
      <p:sp>
        <p:nvSpPr>
          <p:cNvPr id="69" name="Text 67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3152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= Mediana = Moda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206240" y="3840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 sz="1100"/>
          </a:p>
        </p:txBody>
      </p:sp>
      <p:sp>
        <p:nvSpPr>
          <p:cNvPr id="72" name="Text 70"/>
          <p:cNvSpPr/>
          <p:nvPr/>
        </p:nvSpPr>
        <p:spPr>
          <a:xfrm>
            <a:off x="438912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campana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38912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en el centro, colas simétricas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863840" y="3840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 sz="1100"/>
          </a:p>
        </p:txBody>
      </p:sp>
      <p:sp>
        <p:nvSpPr>
          <p:cNvPr id="75" name="Text 73"/>
          <p:cNvSpPr/>
          <p:nvPr/>
        </p:nvSpPr>
        <p:spPr>
          <a:xfrm>
            <a:off x="804672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68-95-99.7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04672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1σ → 68%, 2σ → 95%, 3σ → 99.7%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548640" y="48463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 sz="1100"/>
          </a:p>
        </p:txBody>
      </p:sp>
      <p:sp>
        <p:nvSpPr>
          <p:cNvPr id="78" name="Text 76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normal es el "patrón de oro" en estadística. Muchas pruebas asumen que los datos siguen esta forma de campana.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6">
            <a:extLst>
              <a:ext uri="{FF2B5EF4-FFF2-40B4-BE49-F238E27FC236}">
                <a16:creationId xmlns:a16="http://schemas.microsoft.com/office/drawing/2014/main" id="{51C6A25E-C8AF-4774-5692-2B09D4AC2366}"/>
              </a:ext>
            </a:extLst>
          </p:cNvPr>
          <p:cNvSpPr/>
          <p:nvPr/>
        </p:nvSpPr>
        <p:spPr>
          <a:xfrm>
            <a:off x="548640" y="192405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0070C0">
              <a:alpha val="52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verificar normalidad?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prueba correcta depende de si tus datos son normales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5780" y="118745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datos son normales?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20140" y="1868170"/>
            <a:ext cx="1371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577340" y="168529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63240" y="192024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A3A1A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063240" y="1737360"/>
            <a:ext cx="0" cy="6400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520440" y="219456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033520" y="16410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40710" y="1930400"/>
            <a:ext cx="2103120" cy="1400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No Paramétricas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40710" y="2438400"/>
            <a:ext cx="2103120" cy="793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de Mann-Whitney</a:t>
            </a:r>
            <a:endParaRPr lang="en-US" sz="900" dirty="0"/>
          </a:p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</a:t>
            </a:r>
            <a:endParaRPr lang="en-US" sz="900" dirty="0"/>
          </a:p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900" dirty="0"/>
          </a:p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900" dirty="0"/>
          </a:p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datos (log)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de ignorar la normalidad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positivos: rechazar H₀ cuando es cierta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potencia: no detectar efectos reales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confianza incorrectos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sesgadas de parámetros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no reproducibles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120640" cy="2743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al menos 2 de 4 pruebas indican normalidad (p &gt; 0.05), puedes usar pruebas paramétricas con confianza.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NormaStat - Evaluador Avanzado de Normalidad</a:t>
            </a:r>
            <a:endParaRPr lang="en-US" sz="8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2738339F-3374-C664-633F-5809FDA01AEB}"/>
              </a:ext>
            </a:extLst>
          </p:cNvPr>
          <p:cNvSpPr/>
          <p:nvPr/>
        </p:nvSpPr>
        <p:spPr>
          <a:xfrm>
            <a:off x="1120140" y="218567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E30BE223-FD5B-8615-2CA9-B2A6438DE023}"/>
              </a:ext>
            </a:extLst>
          </p:cNvPr>
          <p:cNvSpPr/>
          <p:nvPr/>
        </p:nvSpPr>
        <p:spPr>
          <a:xfrm>
            <a:off x="3506470" y="1856740"/>
            <a:ext cx="1371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E7692AC8-C1C5-D128-9B31-887A7E2538F5}"/>
              </a:ext>
            </a:extLst>
          </p:cNvPr>
          <p:cNvSpPr/>
          <p:nvPr/>
        </p:nvSpPr>
        <p:spPr>
          <a:xfrm>
            <a:off x="685800" y="1911351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0070C0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54710" y="2286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de Student</a:t>
            </a:r>
            <a:endParaRPr lang="en-US" sz="900" b="1" dirty="0"/>
          </a:p>
          <a:p>
            <a:pPr marL="342900" indent="-342900" algn="l">
              <a:buSzPct val="100000"/>
              <a:buChar char="•"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900" b="1" dirty="0"/>
          </a:p>
          <a:p>
            <a:pPr marL="342900" indent="-342900" algn="l">
              <a:buSzPct val="100000"/>
              <a:buChar char="•"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900" b="1" dirty="0"/>
          </a:p>
          <a:p>
            <a:pPr marL="342900" indent="-342900" algn="l">
              <a:buSzPct val="100000"/>
              <a:buChar char="•"/>
            </a:pPr>
            <a:r>
              <a:rPr lang="en-US" sz="900" b="1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lineal</a:t>
            </a:r>
            <a:endParaRPr lang="en-US" sz="900" b="1" dirty="0"/>
          </a:p>
        </p:txBody>
      </p:sp>
      <p:sp>
        <p:nvSpPr>
          <p:cNvPr id="9" name="Text 7"/>
          <p:cNvSpPr/>
          <p:nvPr/>
        </p:nvSpPr>
        <p:spPr>
          <a:xfrm>
            <a:off x="831850" y="187325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Paramétricas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pruebas de normalidad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prueba responde una pregunta diferente sobre tus datos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(W)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datos se alinean en una línea recta (QQ-plot)?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0" y="132588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32104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potente para n &lt; 50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 (D)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curva acumulada observada se parece a la teórica?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237744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32104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para n ≥ 50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(JB)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asimetría y curtosis son las de una normal?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34290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3210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n grandes (&gt;100)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22960" y="4389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 (χ²)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frecuencias observadas vs esperadas coinciden?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0" y="448056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321040" y="4526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versátil (datos agrupados)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al menos 2 pruebas coinciden en "normal", el supuesto se cumple.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(W) — Correlación con la normal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alineados están tus datos con una línea recta teórica?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QQ-plot: Datos ordenados vs. Cuantiles teóricos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5544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7373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19202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1031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2860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4688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26517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8346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0175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32004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33832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5661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7490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9319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1148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42976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6634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8463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1371600" y="4114800"/>
            <a:ext cx="3657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1508760" y="38862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1783080" y="35204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2057400" y="31546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2331720" y="26974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2606040" y="24231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2880360" y="20574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154680" y="16916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3429000" y="14173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3703320" y="11430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3977640" y="8686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4251960" y="6858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4526280" y="5029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6400800" y="10972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658368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los datos de menor a mayor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los cuantiles esperados de una normal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correlación (W) entre datos y cuantiles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 → correlación perfecta (datos normales)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&lt; 1 → desviación de la normalidad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3291840"/>
            <a:ext cx="49377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≈ 0.98 — tus datos son prácticamente normales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prueba más recomendada para muestras pequeñas (n &lt; 50).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en NormaStat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datos de estatura (distribución normal)</a:t>
            </a:r>
            <a:endParaRPr lang="en-US" sz="1100" dirty="0"/>
          </a:p>
        </p:txBody>
      </p:sp>
      <p:pic>
        <p:nvPicPr>
          <p:cNvPr id="4" name="Image 0" descr="C:\Users\rgela\OneDrive - Universidad Autónoma del Carmen\Proyectos IA\Normalidad\screenshots\estatura_normal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9436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A3A1A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7040880" y="1188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Shapiro-Wilk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155448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→ cercano a 1.0000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→ &gt; 0.05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No se rechaza H₀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Los datos son normales</a:t>
            </a:r>
            <a:endParaRPr lang="en-US" sz="1000" dirty="0"/>
          </a:p>
        </p:txBody>
      </p:sp>
      <p:pic>
        <p:nvPicPr>
          <p:cNvPr id="8" name="Image 1" descr="C:\Users\rgela\OneDrive - Universidad Autónoma del Carmen\Proyectos IA\Normalidad\screenshots\estatura_norm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83280"/>
            <a:ext cx="10972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 (D) — Distancia entre curvas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tanto se aleja la curva acumulada de tus datos de la curva teórica?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ECDF (observada) vs. CDF (teórica normal)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645920" y="33147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194560" y="29718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743200" y="26289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840480" y="20574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389120" y="19431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4937760" y="1874520"/>
            <a:ext cx="548640" cy="914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097280" y="4111714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1243584" y="4108959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389888" y="4104144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1536192" y="4096060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1682496" y="4083017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1828800" y="4062793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1975104" y="4032663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2121408" y="3989529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2267712" y="3930190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2414016" y="3851751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2560320" y="3752114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2706624" y="3630499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2852928" y="3487857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999232" y="3327094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3145536" y="3152988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3291840" y="2971800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3438144" y="2790612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3584448" y="2616506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3730752" y="2455743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3877056" y="2313101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023360" y="2191486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169664" y="2091849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4315968" y="2013410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4462272" y="1954071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4608576" y="1910937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4754880" y="1880807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4901184" y="1860583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5047488" y="1847540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5193792" y="1839456"/>
            <a:ext cx="14630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2743200" y="2286000"/>
            <a:ext cx="0" cy="6400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2606040" y="2377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10972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/>
          <p:nvPr/>
        </p:nvSpPr>
        <p:spPr>
          <a:xfrm>
            <a:off x="658368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función de distribución acumulada (ECDF) de tus datos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Superpone la CDF de una normal teórica (con tu media y desviación)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distancia vertical máxima entre ambas: D = máx |ECDF - CDF|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pequeño → las curvas son casi iguales → normal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grande → las curvas se separan → no normal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0" y="3291840"/>
            <a:ext cx="49377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≈ 0.05 — las curvas prácticamente se superponen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prueba para n ≥ 50. Menos potente que SW en muestras pequeñas.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(JB) — Asimetría y Curtosis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distribución tiene la forma (simetría) y el pico (curtosis) correctos?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0972800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(S) y Curtosis (K) — Los dos ingredientes de la forma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2743200" cy="914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 0 (sesgo izq.)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64008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45720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718304" y="2377440"/>
            <a:ext cx="2743200" cy="914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5358384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 (simétrica)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503920" y="2377440"/>
            <a:ext cx="2743200" cy="914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914400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&gt; 0 (sesgo der.)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607040" y="2103120"/>
            <a:ext cx="64008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8503920" y="2240280"/>
            <a:ext cx="45720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Curtosis (K): ¿pico o plano?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&gt; 3 → Leptocúrtica (pico alto, colas gruesas)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= 3 → Mesocúrtica (normal)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&lt; 3 → Platicúrtica (pico bajo, colas delgadas)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400800" y="3474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del estadístico JB: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 = (n/6) × [S² + (K-3)² / 4]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datos son normales → S ≈ 0 y K ≈ 3 → JB ≈ 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muestras grandes (n &gt; 100).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 (χ²) — Bondad de ajuste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frecuencias observadas en cada "cajón" coinciden con las esperadas?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Frecuencias observadas vs. esperadas por intervalo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32004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32004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554480" y="2743200"/>
            <a:ext cx="320040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1554480" y="2926080"/>
            <a:ext cx="32004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011680" y="2194560"/>
            <a:ext cx="320040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011680" y="2468880"/>
            <a:ext cx="320040" cy="13716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468880" y="1828800"/>
            <a:ext cx="320040" cy="2011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2468880" y="2011680"/>
            <a:ext cx="320040" cy="18288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2926080" y="2011680"/>
            <a:ext cx="320040" cy="1828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926080" y="1828800"/>
            <a:ext cx="320040" cy="201168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3383280" y="2468880"/>
            <a:ext cx="320040" cy="1371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3383280" y="2011680"/>
            <a:ext cx="320040" cy="18288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840480" y="3017520"/>
            <a:ext cx="320040" cy="8229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840480" y="2468880"/>
            <a:ext cx="320040" cy="13716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297680" y="3383280"/>
            <a:ext cx="3200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4297680" y="2926080"/>
            <a:ext cx="32004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1371600" y="4023360"/>
            <a:ext cx="18288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1600200" y="4023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560320" y="4023360"/>
            <a:ext cx="182880" cy="13716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788920" y="40233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Esperada (normal)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00800" y="10972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58368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los datos en k intervalos (bins)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frecuencias observadas (O) en cada bin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frecuencias esperadas (E) bajo la normal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Suma: χ² = Σ (O - E)² / E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pequeño → observado ≈ esperado → normal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3291840"/>
            <a:ext cx="49377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regla de Sturges: k = ⌈log₂(n) + 1⌉ bins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libertad: gl = k - 3 (por estimar μ y σ de los datos).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pruebas en acción — NormaStat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simultáneos con datos de estatura (distribución normal)</a:t>
            </a:r>
            <a:endParaRPr lang="en-US" sz="1100" dirty="0"/>
          </a:p>
        </p:txBody>
      </p:sp>
      <p:pic>
        <p:nvPicPr>
          <p:cNvPr id="4" name="Image 0" descr="C:\Users\rgela\OneDrive - Universidad Autónoma del Carmen\Proyectos IA\Normalidad\screenshots\estatura_normal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109728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5760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731520" y="3749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una? Guía rápida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50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potencia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4747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35661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661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≥ 50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661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versatilidad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9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63093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93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100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093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asimetría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9611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90525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0525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agrupados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525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clásico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— La regla de oro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es la probabilidad de obtener tus datos si la distribución fuera normal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del p-valor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73736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A3A1A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rechazamos H₀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son consistentes con una normal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Puedes usar pruebas paramétricas 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3A2A1A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76656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≤ 0.05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Rechazamos H₀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desvían significativamente de la normal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 pruebas no paramétricas 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significancia: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0.10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0" y="42062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65B89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4747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&lt; p ≤ 0.10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42062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7607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&lt; p ≤ 0.05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46720" y="42062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0467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≤ 0.01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Normal   |   No normal →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NormaStat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cargar datos + resultados instantáneos</a:t>
            </a:r>
            <a:endParaRPr lang="en-US" sz="1100" dirty="0"/>
          </a:p>
        </p:txBody>
      </p:sp>
      <p:pic>
        <p:nvPicPr>
          <p:cNvPr id="4" name="Image 0" descr="C:\Users\rgela\OneDrive - Universidad Autónoma del Carmen\Proyectos IA\Normalidad\screenshots\estatura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4008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18872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7498080" y="1280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98080" y="16459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Carga datos (CSV, pegar, o ejemplos)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Selecciona la columna numérica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Observa los 3 resultados simultáneos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Revisa el histograma + curva normal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Lee la interpretación automática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Decide: ¿Paramétrico o no paramétrico?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0" y="3474720"/>
            <a:ext cx="40233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749808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en: normastat.vercel.app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100% offline (versión exportable HTML)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clave para el estudiante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confíes en una sola prueba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al menos 2 de las 4. Si coinciden, tu decisión es sólida.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822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355080" y="960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3550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914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muestra importa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1280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para n &lt; 50, KS para n ≥ 50, JB para n &gt; 100, χ² para datos agrupados.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240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 no es "verdad"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606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que no hay evidencia suficiente para rechazar la normalidad. No es una prueba de que sea normal.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355080" y="2286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240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siempre tus datos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606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histograma o QQ-plot dice más que mil p-valores. La estadística visual complementa los números.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 engañan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931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outlier puede sesgar todo el resultado. Inspecciona tus datos antes de aplicar pruebas.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4747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6355080" y="3611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355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≠ independencia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3931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normalidad no verifican si los datos son independientes. Eso es otro supuesto.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ve la no normalidad?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visual: datos normales, sesgados y bimodales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Estatura (Normal)</a:t>
            </a:r>
            <a:endParaRPr lang="en-US" sz="1000" dirty="0"/>
          </a:p>
        </p:txBody>
      </p:sp>
      <p:pic>
        <p:nvPicPr>
          <p:cNvPr id="6" name="Image 0" descr="C:\Users\rgela\OneDrive - Universidad Autónoma del Carmen\Proyectos IA\Normalidad\screenshots\estatura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32004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411480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128016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✓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89120" y="10972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457200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Reacción (Sesgado)</a:t>
            </a:r>
            <a:endParaRPr lang="en-US" sz="1000" dirty="0"/>
          </a:p>
        </p:txBody>
      </p:sp>
      <p:pic>
        <p:nvPicPr>
          <p:cNvPr id="11" name="Image 1" descr="C:\Users\rgela\OneDrive - Universidad Autónoma del Carmen\Proyectos IA\Normalidad\screenshots\reaccion_ses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554480"/>
            <a:ext cx="320040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20640" y="411480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51206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Positivo ✗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229600" y="10972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841248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(Bimodal)</a:t>
            </a:r>
            <a:endParaRPr lang="en-US" sz="1000" dirty="0"/>
          </a:p>
        </p:txBody>
      </p:sp>
      <p:pic>
        <p:nvPicPr>
          <p:cNvPr id="16" name="Image 2" descr="C:\Users\rgela\OneDrive - Universidad Autónoma del Carmen\Proyectos IA\Normalidad\screenshots\examen_bimo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554480"/>
            <a:ext cx="3200400" cy="2286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961120" y="411480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3"/>
          <p:cNvSpPr/>
          <p:nvPr/>
        </p:nvSpPr>
        <p:spPr>
          <a:xfrm>
            <a:off x="896112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✗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Siempre compara el histograma con la curva normal (línea verde) que NormaStat superpone automáticamente.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¡Manos a la obra!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tus propios datos con NormaStat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5788152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5788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normastat.vercel.app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8531352" cy="109728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011680" y="3749040"/>
            <a:ext cx="8165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Gratuito  ✓ Sin registro  ✓ 100% en el navegador  ✓ Exportable a HTML  ✓ Código abierto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4160520"/>
            <a:ext cx="8165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datos CSV, pégalos desde Excel o usa los ejemplos incorporados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creada con ❤️ para estudiantes de Estadística Aplicada  ·  Universidad Autónoma del Carmen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1369</Words>
  <Application>Microsoft Office PowerPoint</Application>
  <PresentationFormat>Panorámica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ROLANDO GELABERT FERNANDEZ</cp:lastModifiedBy>
  <cp:revision>2</cp:revision>
  <dcterms:created xsi:type="dcterms:W3CDTF">2026-07-29T17:05:59Z</dcterms:created>
  <dcterms:modified xsi:type="dcterms:W3CDTF">2026-07-29T17:32:46Z</dcterms:modified>
</cp:coreProperties>
</file>
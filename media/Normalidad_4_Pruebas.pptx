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¿Mis datos son normales?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visual de las 4 pruebas de normalidad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0" y="3017520"/>
            <a:ext cx="3959352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Shapiro-Wilk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Kolmogorov-Smirnov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94944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 Jarque-Bera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3657600"/>
            <a:ext cx="2194560" cy="640080"/>
          </a:xfrm>
          <a:prstGeom prst="roundRect">
            <a:avLst>
              <a:gd name="adj" fmla="val 14286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3657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 Chi-cuadrado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Estadística Aplicada  ·  Herramienta: NormaStat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distribución normal?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803904" y="2093976"/>
            <a:ext cx="4572000" cy="1828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803904" y="2103092"/>
            <a:ext cx="76200" cy="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3880104" y="2103063"/>
            <a:ext cx="76200" cy="5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3956304" y="2103005"/>
            <a:ext cx="76200" cy="1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032504" y="2102893"/>
            <a:ext cx="76200" cy="22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4108704" y="2102683"/>
            <a:ext cx="76200" cy="43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4184904" y="2102301"/>
            <a:ext cx="76200" cy="81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61104" y="2101620"/>
            <a:ext cx="76200" cy="1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4337304" y="2100442"/>
            <a:ext cx="76200" cy="267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3504" y="2098454"/>
            <a:ext cx="76200" cy="466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9704" y="2095189"/>
            <a:ext cx="76200" cy="79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565904" y="2089967"/>
            <a:ext cx="76200" cy="1315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2104" y="2081840"/>
            <a:ext cx="76200" cy="21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4718304" y="2069530"/>
            <a:ext cx="76200" cy="3359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794504" y="2051391"/>
            <a:ext cx="76200" cy="5172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Shape 16"/>
          <p:cNvSpPr/>
          <p:nvPr/>
        </p:nvSpPr>
        <p:spPr>
          <a:xfrm>
            <a:off x="4870704" y="2025398"/>
            <a:ext cx="76200" cy="7772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4946904" y="1989189"/>
            <a:ext cx="76200" cy="1139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3104" y="1940183"/>
            <a:ext cx="76200" cy="16293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5099304" y="1875777"/>
            <a:ext cx="76200" cy="22734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Shape 20"/>
          <p:cNvSpPr/>
          <p:nvPr/>
        </p:nvSpPr>
        <p:spPr>
          <a:xfrm>
            <a:off x="5175504" y="1793642"/>
            <a:ext cx="76200" cy="30947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5251704" y="1692102"/>
            <a:ext cx="76200" cy="4110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327904" y="1570550"/>
            <a:ext cx="76200" cy="53257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04104" y="1429869"/>
            <a:ext cx="76200" cy="67325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0304" y="1272770"/>
            <a:ext cx="76200" cy="8303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5556504" y="1103973"/>
            <a:ext cx="76200" cy="99914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6"/>
          <p:cNvSpPr/>
          <p:nvPr/>
        </p:nvSpPr>
        <p:spPr>
          <a:xfrm>
            <a:off x="5632704" y="930163"/>
            <a:ext cx="76200" cy="117295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5708904" y="759678"/>
            <a:ext cx="76200" cy="134344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5785104" y="601915"/>
            <a:ext cx="76200" cy="15012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861304" y="466510"/>
            <a:ext cx="76200" cy="163661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5937504" y="362377"/>
            <a:ext cx="76200" cy="174074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6013704" y="296743"/>
            <a:ext cx="76200" cy="18063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6089904" y="274320"/>
            <a:ext cx="76200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6166104" y="296743"/>
            <a:ext cx="76200" cy="180637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6242304" y="362377"/>
            <a:ext cx="76200" cy="174074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Shape 35"/>
          <p:cNvSpPr/>
          <p:nvPr/>
        </p:nvSpPr>
        <p:spPr>
          <a:xfrm>
            <a:off x="6318504" y="466510"/>
            <a:ext cx="76200" cy="163661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6394704" y="601915"/>
            <a:ext cx="76200" cy="150120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6470904" y="759678"/>
            <a:ext cx="76200" cy="134344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6547104" y="930163"/>
            <a:ext cx="76200" cy="117295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623304" y="1103973"/>
            <a:ext cx="76200" cy="99914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Shape 40"/>
          <p:cNvSpPr/>
          <p:nvPr/>
        </p:nvSpPr>
        <p:spPr>
          <a:xfrm>
            <a:off x="6699504" y="1272770"/>
            <a:ext cx="76200" cy="83035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6775704" y="1429869"/>
            <a:ext cx="76200" cy="67325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1904" y="1570550"/>
            <a:ext cx="76200" cy="53257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Shape 43"/>
          <p:cNvSpPr/>
          <p:nvPr/>
        </p:nvSpPr>
        <p:spPr>
          <a:xfrm>
            <a:off x="6928104" y="1692102"/>
            <a:ext cx="76200" cy="4110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Shape 44"/>
          <p:cNvSpPr/>
          <p:nvPr/>
        </p:nvSpPr>
        <p:spPr>
          <a:xfrm>
            <a:off x="7004304" y="1793642"/>
            <a:ext cx="76200" cy="30947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7" name="Shape 45"/>
          <p:cNvSpPr/>
          <p:nvPr/>
        </p:nvSpPr>
        <p:spPr>
          <a:xfrm>
            <a:off x="7080504" y="1875777"/>
            <a:ext cx="76200" cy="22734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8" name="Shape 46"/>
          <p:cNvSpPr/>
          <p:nvPr/>
        </p:nvSpPr>
        <p:spPr>
          <a:xfrm>
            <a:off x="7156704" y="1940183"/>
            <a:ext cx="76200" cy="16293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Shape 47"/>
          <p:cNvSpPr/>
          <p:nvPr/>
        </p:nvSpPr>
        <p:spPr>
          <a:xfrm>
            <a:off x="7232904" y="1989189"/>
            <a:ext cx="76200" cy="1139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Shape 48"/>
          <p:cNvSpPr/>
          <p:nvPr/>
        </p:nvSpPr>
        <p:spPr>
          <a:xfrm>
            <a:off x="7309104" y="2025398"/>
            <a:ext cx="76200" cy="7772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1" name="Shape 49"/>
          <p:cNvSpPr/>
          <p:nvPr/>
        </p:nvSpPr>
        <p:spPr>
          <a:xfrm>
            <a:off x="7385304" y="2051391"/>
            <a:ext cx="76200" cy="5172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2" name="Shape 50"/>
          <p:cNvSpPr/>
          <p:nvPr/>
        </p:nvSpPr>
        <p:spPr>
          <a:xfrm>
            <a:off x="7461504" y="2069530"/>
            <a:ext cx="76200" cy="3359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Shape 51"/>
          <p:cNvSpPr/>
          <p:nvPr/>
        </p:nvSpPr>
        <p:spPr>
          <a:xfrm>
            <a:off x="7537704" y="2081840"/>
            <a:ext cx="76200" cy="21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Shape 52"/>
          <p:cNvSpPr/>
          <p:nvPr/>
        </p:nvSpPr>
        <p:spPr>
          <a:xfrm>
            <a:off x="7613904" y="2089967"/>
            <a:ext cx="76200" cy="13153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Shape 53"/>
          <p:cNvSpPr/>
          <p:nvPr/>
        </p:nvSpPr>
        <p:spPr>
          <a:xfrm>
            <a:off x="7690104" y="2095189"/>
            <a:ext cx="76200" cy="793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6" name="Shape 54"/>
          <p:cNvSpPr/>
          <p:nvPr/>
        </p:nvSpPr>
        <p:spPr>
          <a:xfrm>
            <a:off x="7766304" y="2098454"/>
            <a:ext cx="76200" cy="466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7" name="Shape 55"/>
          <p:cNvSpPr/>
          <p:nvPr/>
        </p:nvSpPr>
        <p:spPr>
          <a:xfrm>
            <a:off x="7842504" y="2100442"/>
            <a:ext cx="76200" cy="267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Shape 56"/>
          <p:cNvSpPr/>
          <p:nvPr/>
        </p:nvSpPr>
        <p:spPr>
          <a:xfrm>
            <a:off x="7918704" y="2101620"/>
            <a:ext cx="76200" cy="1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9" name="Shape 57"/>
          <p:cNvSpPr/>
          <p:nvPr/>
        </p:nvSpPr>
        <p:spPr>
          <a:xfrm>
            <a:off x="7994904" y="2102301"/>
            <a:ext cx="76200" cy="819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71104" y="2102683"/>
            <a:ext cx="76200" cy="43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1" name="Shape 59"/>
          <p:cNvSpPr/>
          <p:nvPr/>
        </p:nvSpPr>
        <p:spPr>
          <a:xfrm>
            <a:off x="8147304" y="2102893"/>
            <a:ext cx="76200" cy="22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2" name="Shape 60"/>
          <p:cNvSpPr/>
          <p:nvPr/>
        </p:nvSpPr>
        <p:spPr>
          <a:xfrm>
            <a:off x="8223504" y="2103005"/>
            <a:ext cx="76200" cy="11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3" name="Shape 61"/>
          <p:cNvSpPr/>
          <p:nvPr/>
        </p:nvSpPr>
        <p:spPr>
          <a:xfrm>
            <a:off x="8299704" y="2103063"/>
            <a:ext cx="76200" cy="57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4" name="Shape 62"/>
          <p:cNvSpPr/>
          <p:nvPr/>
        </p:nvSpPr>
        <p:spPr>
          <a:xfrm>
            <a:off x="6089904" y="182880"/>
            <a:ext cx="0" cy="1920240"/>
          </a:xfrm>
          <a:prstGeom prst="line">
            <a:avLst/>
          </a:prstGeom>
          <a:noFill/>
          <a:ln w="19050">
            <a:solidFill>
              <a:srgbClr val="10B981"/>
            </a:solidFill>
            <a:prstDash val="dash"/>
          </a:ln>
        </p:spPr>
      </p:sp>
      <p:sp>
        <p:nvSpPr>
          <p:cNvPr id="65" name="Text 63"/>
          <p:cNvSpPr/>
          <p:nvPr/>
        </p:nvSpPr>
        <p:spPr>
          <a:xfrm>
            <a:off x="5632704" y="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(media)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992624" y="21945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-1σ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6638544" y="21945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+1σ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548640" y="3840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3152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= Mediana = Moda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206240" y="3840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3891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campana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438912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en el centro, colas simétricas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863840" y="384048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46720" y="3886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68-95-99.7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046720" y="4206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1σ → 68%, 2σ → 95%, 3σ → 99.7%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48640" y="4846320"/>
            <a:ext cx="10972800" cy="73152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31520" y="4892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normal es el "patrón de oro" en estadística. Muchas pruebas asumen que los datos siguen esta forma de campana.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verificar normalidad?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prueba correcta depende de si tus datos son normales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datos son normales?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063240" y="1737360"/>
            <a:ext cx="137160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5544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063240" y="192024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A3A1A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Paramétricas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22860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de Student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737360"/>
            <a:ext cx="0" cy="64008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63240" y="2377440"/>
            <a:ext cx="13716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21945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63240" y="256032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3A2A1A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No Paramétricas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2926080"/>
            <a:ext cx="21031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de Mann-Whitney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900" dirty="0"/>
          </a:p>
          <a:p>
            <a:pPr algn="l" marL="342900" indent="-342900">
              <a:buSzPct val="100000"/>
              <a:buChar char="•"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datos (log)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35040" y="128016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Consecuencias de ignorar la normalidad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8288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positivos: rechazar H₀ cuando es cierta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de potencia: no detectar efectos reales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 incorrectos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sesgadas de parámetros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no reproducibles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120640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84048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 al menos 2 de 4 pruebas indican normalidad (p &gt; 0.05), puedes usar pruebas paramétricas con confianza.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4846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NormaStat - Evaluador Avanzado de Normalidad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pruebas de normalidad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prueba responde una pregunta diferente sobre tus datos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(W)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datos se alinean en una línea recta (QQ-plot)?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0" y="132588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371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potente para n &lt; 50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86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(D)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curva acumulada observada se parece a la teórica?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237744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para n ≥ 50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37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(JB)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asimetría y curtosis son las de una normal?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0" y="34290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3474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n grandes (&gt;100)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389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 (χ²)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frecuencias observadas vs esperadas coinciden?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0" y="448056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4526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versátil (datos agrupados)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si al menos 2 pruebas coinciden en "normal", el supuesto se cumple.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(W) — Correlación con la normal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alineados están tus datos con una línea recta teórica?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QQ-plot: Datos ordenados vs. Cuantiles teóricos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Shape 7"/>
          <p:cNvSpPr/>
          <p:nvPr/>
        </p:nvSpPr>
        <p:spPr>
          <a:xfrm>
            <a:off x="15544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Shape 8"/>
          <p:cNvSpPr/>
          <p:nvPr/>
        </p:nvSpPr>
        <p:spPr>
          <a:xfrm>
            <a:off x="17373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9"/>
          <p:cNvSpPr/>
          <p:nvPr/>
        </p:nvSpPr>
        <p:spPr>
          <a:xfrm>
            <a:off x="19202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28346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5"/>
          <p:cNvSpPr/>
          <p:nvPr/>
        </p:nvSpPr>
        <p:spPr>
          <a:xfrm>
            <a:off x="30175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39319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Shape 21"/>
          <p:cNvSpPr/>
          <p:nvPr/>
        </p:nvSpPr>
        <p:spPr>
          <a:xfrm>
            <a:off x="411480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429768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448056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286000"/>
            <a:ext cx="182880" cy="914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6"/>
          <p:cNvSpPr/>
          <p:nvPr/>
        </p:nvSpPr>
        <p:spPr>
          <a:xfrm>
            <a:off x="1371600" y="4114800"/>
            <a:ext cx="3657600" cy="-228600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508760" y="38862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0" name="Shape 28"/>
          <p:cNvSpPr/>
          <p:nvPr/>
        </p:nvSpPr>
        <p:spPr>
          <a:xfrm>
            <a:off x="1783080" y="35204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2057400" y="31546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2331720" y="26974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2606040" y="242316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4" name="Shape 32"/>
          <p:cNvSpPr/>
          <p:nvPr/>
        </p:nvSpPr>
        <p:spPr>
          <a:xfrm>
            <a:off x="2880360" y="20574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3154680" y="169164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14173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7" name="Shape 35"/>
          <p:cNvSpPr/>
          <p:nvPr/>
        </p:nvSpPr>
        <p:spPr>
          <a:xfrm>
            <a:off x="3703320" y="11430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8" name="Shape 36"/>
          <p:cNvSpPr/>
          <p:nvPr/>
        </p:nvSpPr>
        <p:spPr>
          <a:xfrm>
            <a:off x="3977640" y="86868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Shape 37"/>
          <p:cNvSpPr/>
          <p:nvPr/>
        </p:nvSpPr>
        <p:spPr>
          <a:xfrm>
            <a:off x="4251960" y="6858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0" name="Shape 38"/>
          <p:cNvSpPr/>
          <p:nvPr/>
        </p:nvSpPr>
        <p:spPr>
          <a:xfrm>
            <a:off x="4526280" y="50292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1" name="Shape 39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 los datos de menor a mayor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los cuantiles esperados de una normal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correlación (W) entre datos y cuantiles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1 → correlación perfecta (datos normales)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&lt; 1 → desviación de la normalidad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3291840"/>
            <a:ext cx="493776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≈ 0.98 — tus datos son prácticamente normales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prueba más recomendada para muestras pequeñas (n &lt; 50).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 en NormaStat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datos de estatura (distribución normal)</a:t>
            </a:r>
            <a:endParaRPr lang="en-US" sz="1100" dirty="0"/>
          </a:p>
        </p:txBody>
      </p:sp>
      <p:pic>
        <p:nvPicPr>
          <p:cNvPr id="4" name="Image 0" descr="C:\Users\rgela\OneDrive - Universidad Autónoma del Carmen\Proyectos IA\Normalidad\screenshots\estatura_normal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59436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097280"/>
            <a:ext cx="4572000" cy="2011680"/>
          </a:xfrm>
          <a:prstGeom prst="roundRect">
            <a:avLst>
              <a:gd name="adj" fmla="val 3636"/>
            </a:avLst>
          </a:prstGeom>
          <a:solidFill>
            <a:srgbClr val="1A3A1A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0" y="1188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Shapiro-Wilk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040880" y="155448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→ cercano a 1.0000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→ &gt; 0.05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No se rechaza H₀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Conclusión: Los datos son normales</a:t>
            </a:r>
            <a:endParaRPr lang="en-US" sz="1000" dirty="0"/>
          </a:p>
        </p:txBody>
      </p:sp>
      <p:pic>
        <p:nvPicPr>
          <p:cNvPr id="8" name="Image 1" descr="C:\Users\rgela\OneDrive - Universidad Autónoma del Carmen\Proyectos IA\Normalidad\screenshots\estatura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383280"/>
            <a:ext cx="10972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 (D) — Distancia entre curvas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tanto se aleja la curva acumulada de tus datos de la curva teórica?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 (observada) vs. CDF (teórica normal)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36576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33147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29718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26289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2860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20574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4389120" y="194310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874520"/>
            <a:ext cx="54864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7280" y="4111714"/>
            <a:ext cx="146304" cy="-275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43584" y="4108959"/>
            <a:ext cx="146304" cy="-481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89888" y="4104144"/>
            <a:ext cx="146304" cy="-808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36192" y="4096060"/>
            <a:ext cx="146304" cy="-130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82496" y="4083017"/>
            <a:ext cx="146304" cy="-20223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4062793"/>
            <a:ext cx="146304" cy="-3013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75104" y="4032663"/>
            <a:ext cx="146304" cy="-4313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21408" y="3989529"/>
            <a:ext cx="146304" cy="-59339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67712" y="3930190"/>
            <a:ext cx="146304" cy="-784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414016" y="3851751"/>
            <a:ext cx="146304" cy="-99637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0" y="3752114"/>
            <a:ext cx="146304" cy="-12161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06624" y="3630499"/>
            <a:ext cx="146304" cy="-142641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52928" y="3487857"/>
            <a:ext cx="146304" cy="-160763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9232" y="3327094"/>
            <a:ext cx="146304" cy="-17410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45536" y="3152988"/>
            <a:ext cx="146304" cy="-18118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2971800"/>
            <a:ext cx="146304" cy="-181188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38144" y="2790612"/>
            <a:ext cx="146304" cy="-174106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4448" y="2616506"/>
            <a:ext cx="146304" cy="-160763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30752" y="2455743"/>
            <a:ext cx="146304" cy="-142641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77056" y="2313101"/>
            <a:ext cx="146304" cy="-12161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2191486"/>
            <a:ext cx="146304" cy="-99637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69664" y="2091849"/>
            <a:ext cx="146304" cy="-7844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15968" y="2013410"/>
            <a:ext cx="146304" cy="-59339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62272" y="1954071"/>
            <a:ext cx="146304" cy="-43135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08576" y="1910937"/>
            <a:ext cx="146304" cy="-3013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1880807"/>
            <a:ext cx="146304" cy="-20223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1860583"/>
            <a:ext cx="146304" cy="-1304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47488" y="1847540"/>
            <a:ext cx="146304" cy="-808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193792" y="1839456"/>
            <a:ext cx="146304" cy="-4814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43200" y="2286000"/>
            <a:ext cx="0" cy="6400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06040" y="2377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función de distribución acumulada (ECDF) de tus datos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Superpone la CDF de una normal teórica (con tu media y desviación)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distancia vertical máxima entre ambas: D = máx |ECDF - CDF|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pequeño → las curvas son casi iguales → normal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grande → las curvas se separan → no normal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83680" y="3291840"/>
            <a:ext cx="493776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≈ 0.05 — las curvas prácticamente se superponen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prueba para n ≥ 50. Menos potente que SW en muestras pequeñas.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09728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 (JB) — Asimetría y Curtosis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¿Tu distribución tiene la forma (simetría) y el pico (curtosis) correctos?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10972800" cy="2011680"/>
          </a:xfrm>
          <a:prstGeom prst="roundRect">
            <a:avLst>
              <a:gd name="adj" fmla="val 3636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Asimetría (S) y Curtosis (K) — Los dos ingredientes de la forma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2743200" cy="91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&lt; 0 (sesgo izq.)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6400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0" y="2240280"/>
            <a:ext cx="4572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304" y="2377440"/>
            <a:ext cx="2743200" cy="914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358384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0 (simétrica)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503920" y="2377440"/>
            <a:ext cx="2743200" cy="91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0" y="16459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&gt; 0 (sesgo der.)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10607040" y="2103120"/>
            <a:ext cx="64008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2240280"/>
            <a:ext cx="457200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3832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Curtosis (K): ¿pico o plano?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&gt; 3 → Leptocúrtica (pico alto, colas gruesas)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= 3 → Mesocúrtica (normal)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 &lt; 3 → Platicúrtica (pico bajo, colas delgadas)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17920" y="3383280"/>
            <a:ext cx="5303520" cy="18288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del estadístico JB: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840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JB = (n/6) × [S² + (K-3)² / 4]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0" y="4297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los datos son normales → S ≈ 0 y K ≈ 3 → JB ≈ 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663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para muestras grandes (n &gt; 100).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280160" cy="27432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 (χ²) — Bondad de ajuste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¿Las frecuencias observadas en cada "cajón" coinciden con las esperadas?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Frecuencias observadas vs. esperadas por intervalo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32004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" y="2926080"/>
            <a:ext cx="32004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743200"/>
            <a:ext cx="320040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1554480" y="2926080"/>
            <a:ext cx="32004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194560"/>
            <a:ext cx="320040" cy="16459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2011680" y="2468880"/>
            <a:ext cx="320040" cy="13716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68880" y="1828800"/>
            <a:ext cx="320040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Shape 13"/>
          <p:cNvSpPr/>
          <p:nvPr/>
        </p:nvSpPr>
        <p:spPr>
          <a:xfrm>
            <a:off x="2468880" y="2011680"/>
            <a:ext cx="320040" cy="18288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0" y="2011680"/>
            <a:ext cx="320040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2926080" y="1828800"/>
            <a:ext cx="320040" cy="201168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83280" y="2468880"/>
            <a:ext cx="32004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3383280" y="2011680"/>
            <a:ext cx="320040" cy="18288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3017520"/>
            <a:ext cx="320040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0480" y="2468880"/>
            <a:ext cx="320040" cy="13716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3383280"/>
            <a:ext cx="3200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21"/>
          <p:cNvSpPr/>
          <p:nvPr/>
        </p:nvSpPr>
        <p:spPr>
          <a:xfrm>
            <a:off x="4297680" y="2926080"/>
            <a:ext cx="320040" cy="914400"/>
          </a:xfrm>
          <a:prstGeom prst="rect">
            <a:avLst/>
          </a:prstGeom>
          <a:solidFill>
            <a:srgbClr val="000000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71600" y="4023360"/>
            <a:ext cx="18288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1600200" y="40233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Observada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560320" y="4023360"/>
            <a:ext cx="182880" cy="137160"/>
          </a:xfrm>
          <a:prstGeom prst="rect">
            <a:avLst/>
          </a:prstGeom>
          <a:solidFill>
            <a:srgbClr val="000000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88920" y="40233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Esperada (normal)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400800" y="109728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1887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los datos en k intervalos (bins)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frecuencias observadas (O) en cada bin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frecuencias esperadas (E) bajo la normal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Suma: χ² = Σ (O - E)² / E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pequeño → observado ≈ esperado → normal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291840"/>
            <a:ext cx="493776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3383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la regla de Sturges: k = ⌈log₂(n) + 1⌉ bins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38404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Grados de libertad: gl = k - 3 (por estimar μ y σ de los datos).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3 pruebas en acción — NormaStat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simultáneos con datos de estatura (distribución normal)</a:t>
            </a:r>
            <a:endParaRPr lang="en-US" sz="1100" dirty="0"/>
          </a:p>
        </p:txBody>
      </p:sp>
      <p:pic>
        <p:nvPicPr>
          <p:cNvPr id="4" name="Image 0" descr="C:\Users\rgela\OneDrive - Universidad Autónoma del Carmen\Proyectos IA\Normalidad\screenshots\estatura_normal_ca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109728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65760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374904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cada una? Guía rápida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&lt; 50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potencia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4747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Kolmogorov-Smirnov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661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≥ 50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5661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 versatilidad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9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Jarque-Bera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093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&gt; 100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3093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asimetría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8961120" y="411480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0" y="4160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9052560" y="43891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agrupados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9052560" y="4617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clásico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— La regla de oro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p-valor es la probabilidad de obtener tus datos si la distribución fuera normal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0972800" cy="228600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 del p-valor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737360"/>
            <a:ext cx="18288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1A3A1A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rechazamos H₀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consistentes con una normal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Puedes usar pruebas paramétricas ✓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182880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3A2A1A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874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0.05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66560" y="21945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Rechazamos H₀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desvían significativamente de la normal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Usa pruebas no paramétricas 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significancia: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0.10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474720" y="42062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65B891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 &lt; p ≤ 0.10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760720" y="420624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760720" y="42062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&lt; p ≤ 0.05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8046720" y="4206240"/>
            <a:ext cx="2743200" cy="45720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≤ 0.01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Normal   |   No normal →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NormaStat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formas de cargar datos + resultados instantáneos</a:t>
            </a:r>
            <a:endParaRPr lang="en-US" sz="1100" dirty="0"/>
          </a:p>
        </p:txBody>
      </p:sp>
      <p:pic>
        <p:nvPicPr>
          <p:cNvPr id="4" name="Image 0" descr="C:\Users\rgela\OneDrive - Universidad Autónoma del Carmen\Proyectos IA\Normalidad\screenshots\estatura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640080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0" y="1188720"/>
            <a:ext cx="4389120" cy="36576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12801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Pasos: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98080" y="1645920"/>
            <a:ext cx="40233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Carga datos (CSV, pegar, o ejemplos)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Selecciona la columna numérica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Observa los 3 resultados simultáneos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Revisa el histograma + curva normal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Lee la interpretación automática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Decide: ¿Paramétrico o no paramétrico?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498080" y="3474720"/>
            <a:ext cx="402336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3566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en: normastat.vercel.app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100% offline (versión exportable HTML)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clave para el estudiante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96012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confíes en una sola prueba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al menos 2 de las 4. Si coinciden, tu decisión es sólida.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217920" y="8229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9601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960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914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de muestra importa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0" y="12801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 para n &lt; 50, KS para n ≥ 50, JB para n &gt; 100, χ² para datos agrupados.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240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&gt; 0.05 no es "verdad"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2606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 que no hay evidencia suficiente para rechazar la normalidad. No es una prueba de que sea normal.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17920" y="214884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2286000"/>
            <a:ext cx="457200" cy="457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9440" y="2240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siempre tus datos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49440" y="26060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histograma o QQ-plot dice más que mil p-valores. La estadística visual complementa los números.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474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atípicos engañan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outlier puede sesgar todo el resultado. Inspecciona tus datos antes de aplicar pruebas.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47472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6118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49440" y="35661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Normalidad ≠ independencia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4944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pruebas de normalidad no verifican si los datos son independientes. Eso es otro supuesto.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ve la no normalidad?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visual: datos normales, sesgados y bimodales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Estatura (Normal)</a:t>
            </a:r>
            <a:endParaRPr lang="en-US" sz="1000" dirty="0"/>
          </a:p>
        </p:txBody>
      </p:sp>
      <p:pic>
        <p:nvPicPr>
          <p:cNvPr id="6" name="Image 0" descr="C:\Users\rgela\OneDrive - Universidad Autónoma del Carmen\Proyectos IA\Normalidad\screenshots\estatura_norm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2004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80160" y="411480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✓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389120" y="10972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Reacción (Sesgado)</a:t>
            </a:r>
            <a:endParaRPr lang="en-US" sz="1000" dirty="0"/>
          </a:p>
        </p:txBody>
      </p:sp>
      <p:pic>
        <p:nvPicPr>
          <p:cNvPr id="11" name="Image 1" descr="C:\Users\rgela\OneDrive - Universidad Autónoma del Carmen\Proyectos IA\Normalidad\screenshots\reaccion_ses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554480"/>
            <a:ext cx="3200400" cy="2286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120640" y="411480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512064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Positivo ✗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8229600" y="1097280"/>
            <a:ext cx="3474720" cy="4114800"/>
          </a:xfrm>
          <a:prstGeom prst="roundRect">
            <a:avLst>
              <a:gd name="adj" fmla="val 2105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412480" y="11887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(Bimodal)</a:t>
            </a:r>
            <a:endParaRPr lang="en-US" sz="1000" dirty="0"/>
          </a:p>
        </p:txBody>
      </p:sp>
      <p:pic>
        <p:nvPicPr>
          <p:cNvPr id="16" name="Image 2" descr="C:\Users\rgela\OneDrive - Universidad Autónoma del Carmen\Proyectos IA\Normalidad\screenshots\examen_bimo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554480"/>
            <a:ext cx="3200400" cy="22860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961120" y="4114800"/>
            <a:ext cx="2011680" cy="320040"/>
          </a:xfrm>
          <a:prstGeom prst="roundRect">
            <a:avLst>
              <a:gd name="adj" fmla="val 34286"/>
            </a:avLst>
          </a:prstGeom>
          <a:solidFill>
            <a:srgbClr val="F59E0B"/>
          </a:solidFill>
          <a:ln/>
        </p:spPr>
      </p:sp>
      <p:sp>
        <p:nvSpPr>
          <p:cNvPr id="18" name="Text 13"/>
          <p:cNvSpPr/>
          <p:nvPr/>
        </p:nvSpPr>
        <p:spPr>
          <a:xfrm>
            <a:off x="8961120" y="41148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Bimodal ✗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73152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Consejo: Siempre compara el histograma con la curva normal (línea verde) que NormaStat superpone automáticamente.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¡Manos a la obra!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tus propios datos con NormaStat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5788152" cy="640080"/>
          </a:xfrm>
          <a:prstGeom prst="roundRect">
            <a:avLst>
              <a:gd name="adj" fmla="val 11429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743200"/>
            <a:ext cx="5788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normastat.vercel.app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657600"/>
            <a:ext cx="8531352" cy="1097280"/>
          </a:xfrm>
          <a:prstGeom prst="roundRect">
            <a:avLst>
              <a:gd name="adj" fmla="val 6667"/>
            </a:avLst>
          </a:prstGeom>
          <a:solidFill>
            <a:srgbClr val="0D1117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749040"/>
            <a:ext cx="8165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Gratuito  ✓ Sin registro  ✓ 100% en el navegador  ✓ Exportable a HTML  ✓ Código abierto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4160520"/>
            <a:ext cx="8165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datos CSV, pégalos desde Excel o usa los ejemplos incorporados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creada con ❤️ para estudiantes de Estadística Aplicada  ·  Universidad Autónoma del Carmen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2026-07-29T17:05:59Z</dcterms:created>
  <dcterms:modified xsi:type="dcterms:W3CDTF">2026-07-29T17:05:59Z</dcterms:modified>
</cp:coreProperties>
</file>